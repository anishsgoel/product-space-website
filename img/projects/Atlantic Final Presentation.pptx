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DM Sans Thin"/>
      <p:regular r:id="rId31"/>
      <p:bold r:id="rId32"/>
      <p:italic r:id="rId33"/>
      <p:boldItalic r:id="rId34"/>
    </p:embeddedFont>
    <p:embeddedFont>
      <p:font typeface="DM Sans Medium"/>
      <p:regular r:id="rId35"/>
      <p:bold r:id="rId36"/>
      <p:italic r:id="rId37"/>
      <p:boldItalic r:id="rId38"/>
    </p:embeddedFont>
    <p:embeddedFont>
      <p:font typeface="DM Sans ExtraBold"/>
      <p:bold r:id="rId39"/>
      <p:boldItalic r:id="rId40"/>
    </p:embeddedFont>
    <p:embeddedFont>
      <p:font typeface="DM Sans SemiBold"/>
      <p:regular r:id="rId41"/>
      <p:bold r:id="rId42"/>
      <p:italic r:id="rId43"/>
      <p:boldItalic r:id="rId44"/>
    </p:embeddedFont>
    <p:embeddedFont>
      <p:font typeface="DM Sans Light"/>
      <p:regular r:id="rId45"/>
      <p:bold r:id="rId46"/>
      <p:italic r:id="rId47"/>
      <p:boldItalic r:id="rId48"/>
    </p:embeddedFont>
    <p:embeddedFont>
      <p:font typeface="DM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">
          <p15:clr>
            <a:srgbClr val="747775"/>
          </p15:clr>
        </p15:guide>
        <p15:guide id="2" orient="horz" pos="1184">
          <p15:clr>
            <a:srgbClr val="747775"/>
          </p15:clr>
        </p15:guide>
        <p15:guide id="3" orient="horz" pos="1534">
          <p15:clr>
            <a:srgbClr val="747775"/>
          </p15:clr>
        </p15:guide>
        <p15:guide id="4" orient="horz" pos="2016">
          <p15:clr>
            <a:srgbClr val="747775"/>
          </p15:clr>
        </p15:guide>
        <p15:guide id="5" orient="horz" pos="2914">
          <p15:clr>
            <a:srgbClr val="747775"/>
          </p15:clr>
        </p15:guide>
        <p15:guide id="6" pos="3657">
          <p15:clr>
            <a:srgbClr val="747775"/>
          </p15:clr>
        </p15:guide>
        <p15:guide id="7" pos="4032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anice K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1B5B49-85FC-4C4C-9A3A-27B9DE4A745F}">
  <a:tblStyle styleId="{FC1B5B49-85FC-4C4C-9A3A-27B9DE4A74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 orient="horz"/>
        <p:guide pos="1184" orient="horz"/>
        <p:guide pos="1534" orient="horz"/>
        <p:guide pos="2016" orient="horz"/>
        <p:guide pos="2914" orient="horz"/>
        <p:guide pos="3657"/>
        <p:guide pos="40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ExtraBold-boldItalic.fntdata"/><Relationship Id="rId42" Type="http://schemas.openxmlformats.org/officeDocument/2006/relationships/font" Target="fonts/DMSansSemiBold-bold.fntdata"/><Relationship Id="rId41" Type="http://schemas.openxmlformats.org/officeDocument/2006/relationships/font" Target="fonts/DMSansSemiBold-regular.fntdata"/><Relationship Id="rId44" Type="http://schemas.openxmlformats.org/officeDocument/2006/relationships/font" Target="fonts/DMSansSemiBold-boldItalic.fntdata"/><Relationship Id="rId43" Type="http://schemas.openxmlformats.org/officeDocument/2006/relationships/font" Target="fonts/DMSansSemiBold-italic.fntdata"/><Relationship Id="rId46" Type="http://schemas.openxmlformats.org/officeDocument/2006/relationships/font" Target="fonts/DMSansLight-bold.fntdata"/><Relationship Id="rId45" Type="http://schemas.openxmlformats.org/officeDocument/2006/relationships/font" Target="fonts/DMSa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DMSansLight-boldItalic.fntdata"/><Relationship Id="rId47" Type="http://schemas.openxmlformats.org/officeDocument/2006/relationships/font" Target="fonts/DMSansLight-italic.fntdata"/><Relationship Id="rId49" Type="http://schemas.openxmlformats.org/officeDocument/2006/relationships/font" Target="fonts/DMSans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Thin-regular.fntdata"/><Relationship Id="rId30" Type="http://schemas.openxmlformats.org/officeDocument/2006/relationships/slide" Target="slides/slide23.xml"/><Relationship Id="rId33" Type="http://schemas.openxmlformats.org/officeDocument/2006/relationships/font" Target="fonts/DMSansThin-italic.fntdata"/><Relationship Id="rId32" Type="http://schemas.openxmlformats.org/officeDocument/2006/relationships/font" Target="fonts/DMSansThin-bold.fntdata"/><Relationship Id="rId35" Type="http://schemas.openxmlformats.org/officeDocument/2006/relationships/font" Target="fonts/DMSansMedium-regular.fntdata"/><Relationship Id="rId34" Type="http://schemas.openxmlformats.org/officeDocument/2006/relationships/font" Target="fonts/DMSansThin-boldItalic.fntdata"/><Relationship Id="rId37" Type="http://schemas.openxmlformats.org/officeDocument/2006/relationships/font" Target="fonts/DMSansMedium-italic.fntdata"/><Relationship Id="rId36" Type="http://schemas.openxmlformats.org/officeDocument/2006/relationships/font" Target="fonts/DMSansMedium-bold.fntdata"/><Relationship Id="rId39" Type="http://schemas.openxmlformats.org/officeDocument/2006/relationships/font" Target="fonts/DMSansExtraBold-bold.fntdata"/><Relationship Id="rId38" Type="http://schemas.openxmlformats.org/officeDocument/2006/relationships/font" Target="fonts/DMSansMedium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DMSans-italic.fntdata"/><Relationship Id="rId50" Type="http://schemas.openxmlformats.org/officeDocument/2006/relationships/font" Target="fonts/DMSans-bold.fntdata"/><Relationship Id="rId52" Type="http://schemas.openxmlformats.org/officeDocument/2006/relationships/font" Target="fonts/DM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2T21:51:26.772">
    <p:pos x="2023" y="708"/>
    <p:text>Split-Screen Comments With Article Quoting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d33c57d4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d33c57d4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7aa3c833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7aa3c83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4f3a602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84f3a60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b68b4779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8b68b4779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988e012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988e01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8b68b4779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8b68b477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9679789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9679789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the midterm presentation, we were able to double our survey collection count, reaching a total of </a:t>
            </a:r>
            <a:r>
              <a:rPr b="1" lang="en"/>
              <a:t>86 survey responses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respondents were between the ages of 18 and 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not changed since then, </a:t>
            </a:r>
            <a:r>
              <a:rPr lang="en"/>
              <a:t>however</a:t>
            </a:r>
            <a:r>
              <a:rPr lang="en"/>
              <a:t>, has been our findings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general idea that people want to expand their perspectives, hear from diverse opinions, and engage in direct conversation with each other still holds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See: Peaks for “perspective extension” and “continued conversation”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See: Attraction to “controversial topics” or “political or social issues”—conversation starters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See: </a:t>
            </a:r>
            <a:r>
              <a:rPr lang="en"/>
              <a:t>Positive</a:t>
            </a:r>
            <a:r>
              <a:rPr lang="en"/>
              <a:t> responses to seeing disagreements in comment sections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679789b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679789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the additional responses, we can now segment out results for respondents who stated they read comment sections for news sites in particular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general, the most prominent </a:t>
            </a:r>
            <a:r>
              <a:rPr lang="en"/>
              <a:t>differences are that news readers find greater value from feeling more connected to the original author through comment sections, whether in the form of </a:t>
            </a:r>
            <a:r>
              <a:rPr b="1" lang="en"/>
              <a:t>error correction and accountability</a:t>
            </a:r>
            <a:r>
              <a:rPr lang="en"/>
              <a:t> or </a:t>
            </a:r>
            <a:r>
              <a:rPr b="1" lang="en"/>
              <a:t>personal storytelling</a:t>
            </a:r>
            <a:r>
              <a:rPr lang="en"/>
              <a:t>, and a slightly higher risk of finding comment section disagreements to be anxiety-inducing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while news readers largely want the same things as comment browsers overall, these findings suggest that in the news space, there is a premium on </a:t>
            </a:r>
            <a:r>
              <a:rPr b="1" lang="en"/>
              <a:t>author engagement</a:t>
            </a:r>
            <a:r>
              <a:rPr lang="en"/>
              <a:t> and that a social media-esque approach of maximizing attention by promoting controversial comments would be quite unfavorable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8b68b4779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8b68b477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95daef337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95daef33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5daef337_1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d95daef337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95daef337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95daef337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a91f21f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a91f21f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8b68b4779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8b68b4779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a5e832e1e_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9a5e832e1e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95f4c8ca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95f4c8ca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97efbede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97efbede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Atlantic picks should be removed, commenter trust score stays - and condense this part and wilson score and </a:t>
            </a:r>
            <a:r>
              <a:rPr lang="en"/>
              <a:t>bayesian</a:t>
            </a:r>
            <a:r>
              <a:rPr lang="en"/>
              <a:t> smoothing to be on one slide. But mention atlantic picks - so that it can be covered by me explaining it. This slide should be condensed with the </a:t>
            </a:r>
            <a:r>
              <a:rPr lang="en"/>
              <a:t>previous</a:t>
            </a:r>
            <a:r>
              <a:rPr lang="en"/>
              <a:t> slide too to become one slide. Think </a:t>
            </a:r>
            <a:r>
              <a:rPr lang="en"/>
              <a:t>about</a:t>
            </a:r>
            <a:r>
              <a:rPr lang="en"/>
              <a:t> the flow of the presentation again.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97efbedef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97efbedef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a5e832e1e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a5e832e1e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b68b4779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8b68b4779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97697e65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97697e6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8b68b4779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8b68b4779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8b68b4779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8b68b4779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9" Type="http://schemas.openxmlformats.org/officeDocument/2006/relationships/image" Target="../media/image13.jpg"/><Relationship Id="rId5" Type="http://schemas.openxmlformats.org/officeDocument/2006/relationships/image" Target="../media/image4.pn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lsv_5Bmvc6RZXxYgSCA_6H1VGNyfLdp4/view" TargetMode="External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hKDXUNMwIH0pB8yNpzBc6rKLAgitM9Ym/view" TargetMode="External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WkEfNGx4HwLSM2kuak_j1yhUd-bu2Bva/view" TargetMode="External"/><Relationship Id="rId4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FawBKvIwF4-73kFEbpZ8bS7n6Np2N9vu/view" TargetMode="External"/><Relationship Id="rId4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google.com/spreadsheets/d/1Cuh-jMfpIFfn8hSNQBdeztGnVB4yF2sLUt-FUyFdG1o/edit?gid=0#gid=0" TargetMode="External"/><Relationship Id="rId4" Type="http://schemas.openxmlformats.org/officeDocument/2006/relationships/hyperlink" Target="https://docs.google.com/spreadsheets/d/1FN2j1YSE_3q6oFsJ04_aMwx0t5QuROS3iR6MrG7rFHc/edit?gid=0#gid=0" TargetMode="External"/><Relationship Id="rId10" Type="http://schemas.openxmlformats.org/officeDocument/2006/relationships/hyperlink" Target="https://docs.google.com/spreadsheets/d/1lAeN9gYRqc7KI-klUw81GFaKFNueEIjJFBCdmxhfBQE/edit?usp=sharing" TargetMode="External"/><Relationship Id="rId9" Type="http://schemas.openxmlformats.org/officeDocument/2006/relationships/hyperlink" Target="https://www.figma.com/proto/yD4Bf1UtODuukO9oKO93P3/The-Atlantic-Mockups?node-id=316-109439&amp;starting-point-node-id=316%3A109439&amp;t=8FRiejN4GJnTnuKX-1" TargetMode="External"/><Relationship Id="rId5" Type="http://schemas.openxmlformats.org/officeDocument/2006/relationships/hyperlink" Target="https://docs.google.com/document/u/1/d/1ZfM-VvzO63aFc71OjY4rb8CksSAEXMMuHzwGLc60-e0/edit" TargetMode="External"/><Relationship Id="rId6" Type="http://schemas.openxmlformats.org/officeDocument/2006/relationships/hyperlink" Target="https://docs.google.com/document/d/1QV8DstKUzMXVo1kSaG6BW2gCwJxgVI1Ii6M1wOlPjTk/edit?usp=sharing" TargetMode="External"/><Relationship Id="rId7" Type="http://schemas.openxmlformats.org/officeDocument/2006/relationships/hyperlink" Target="https://www.figma.com/proto/yD4Bf1UtODuukO9oKO93P3/The-Atlantic-Mockups?node-id=1-2227&amp;starting-point-node-id=1%3A2227&amp;t=BOVDysfs9k2SBp8n-1" TargetMode="External"/><Relationship Id="rId8" Type="http://schemas.openxmlformats.org/officeDocument/2006/relationships/hyperlink" Target="https://www.figma.com/proto/yD4Bf1UtODuukO9oKO93P3/The-Atlantic-Mockups?node-id=285-79891&amp;starting-point-node-id=285%3A79891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Untitled desig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3125" y="-76200"/>
            <a:ext cx="9313325" cy="52387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633550" y="703475"/>
            <a:ext cx="7147800" cy="9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The Atlantic x Product Space</a:t>
            </a:r>
            <a:endParaRPr sz="348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757926" y="2132450"/>
            <a:ext cx="3001500" cy="575400"/>
          </a:xfrm>
          <a:prstGeom prst="rect">
            <a:avLst/>
          </a:prstGeom>
        </p:spPr>
        <p:txBody>
          <a:bodyPr anchorCtr="0" anchor="t" bIns="69475" lIns="69475" spcFirstLastPara="1" rIns="69475" wrap="square" tIns="69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8F9F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Final</a:t>
            </a:r>
            <a:r>
              <a:rPr lang="en" sz="1900">
                <a:solidFill>
                  <a:srgbClr val="F8F9F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Presentation</a:t>
            </a:r>
            <a:endParaRPr sz="1900">
              <a:solidFill>
                <a:srgbClr val="F8F9FA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7" name="Google Shape;57;p13" title="product space posts (1).png"/>
          <p:cNvPicPr preferRelativeResize="0"/>
          <p:nvPr/>
        </p:nvPicPr>
        <p:blipFill rotWithShape="1">
          <a:blip r:embed="rId5">
            <a:alphaModFix/>
          </a:blip>
          <a:srcRect b="30486" l="7459" r="0" t="40643"/>
          <a:stretch/>
        </p:blipFill>
        <p:spPr>
          <a:xfrm>
            <a:off x="6922250" y="3959600"/>
            <a:ext cx="2017151" cy="786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/>
          <p:nvPr/>
        </p:nvCxnSpPr>
        <p:spPr>
          <a:xfrm>
            <a:off x="757925" y="1802625"/>
            <a:ext cx="39330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57926" y="2530675"/>
            <a:ext cx="3001500" cy="575400"/>
          </a:xfrm>
          <a:prstGeom prst="rect">
            <a:avLst/>
          </a:prstGeom>
        </p:spPr>
        <p:txBody>
          <a:bodyPr anchorCtr="0" anchor="t" bIns="69475" lIns="69475" spcFirstLastPara="1" rIns="69475" wrap="square" tIns="69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8F9F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April</a:t>
            </a:r>
            <a:r>
              <a:rPr lang="en" sz="1900">
                <a:solidFill>
                  <a:srgbClr val="F8F9F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2026</a:t>
            </a:r>
            <a:endParaRPr sz="1900">
              <a:solidFill>
                <a:srgbClr val="F8F9FA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60" name="Google Shape;60;p13"/>
          <p:cNvCxnSpPr/>
          <p:nvPr/>
        </p:nvCxnSpPr>
        <p:spPr>
          <a:xfrm>
            <a:off x="6855776" y="4012300"/>
            <a:ext cx="0" cy="6813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1" name="Google Shape;61;p13" title="Screenshot 2026-03-26 at 7.29.4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2005" y="3855849"/>
            <a:ext cx="821475" cy="1032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2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928450" y="2204598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DM Sans"/>
                <a:ea typeface="DM Sans"/>
                <a:cs typeface="DM Sans"/>
                <a:sym typeface="DM Sans"/>
              </a:rPr>
              <a:t>Janice Ku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Project Manager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607825" y="2204598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DM Sans"/>
                <a:ea typeface="DM Sans"/>
                <a:cs typeface="DM Sans"/>
                <a:sym typeface="DM Sans"/>
              </a:rPr>
              <a:t>Olivia Zhao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Senior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 Product Analyst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215976" y="1065150"/>
            <a:ext cx="1089900" cy="1221300"/>
          </a:xfrm>
          <a:prstGeom prst="rect">
            <a:avLst/>
          </a:prstGeom>
          <a:solidFill>
            <a:srgbClr val="F8F9FA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5">
                <a:latin typeface="DM Sans Thin"/>
                <a:ea typeface="DM Sans Thin"/>
                <a:cs typeface="DM Sans Thin"/>
                <a:sym typeface="DM Sans Thin"/>
              </a:rPr>
              <a:t>(image)</a:t>
            </a:r>
            <a:endParaRPr sz="1185">
              <a:latin typeface="DM Sans Thin"/>
              <a:ea typeface="DM Sans Thin"/>
              <a:cs typeface="DM Sans Thin"/>
              <a:sym typeface="DM Sans Thin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64825" y="4117873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Quisha Lee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 Analyst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419788" y="4117873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DM Sans"/>
                <a:ea typeface="DM Sans"/>
                <a:cs typeface="DM Sans"/>
                <a:sym typeface="DM Sans"/>
              </a:rPr>
              <a:t>Luke Keller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Analyst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768125" y="4117873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DM Sans"/>
                <a:ea typeface="DM Sans"/>
                <a:cs typeface="DM Sans"/>
                <a:sym typeface="DM Sans"/>
              </a:rPr>
              <a:t>Aayan Ali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Analyst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181188" y="4117873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DM Sans"/>
                <a:ea typeface="DM Sans"/>
                <a:cs typeface="DM Sans"/>
                <a:sym typeface="DM Sans"/>
              </a:rPr>
              <a:t>Ashrit Manduva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Analyst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7071463" y="4117873"/>
            <a:ext cx="1607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DM Sans"/>
                <a:ea typeface="DM Sans"/>
                <a:cs typeface="DM Sans"/>
                <a:sym typeface="DM Sans"/>
              </a:rPr>
              <a:t>David Xie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Product Analyst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57800" y="0"/>
            <a:ext cx="8228400" cy="9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Meet the Team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866726" y="1049275"/>
            <a:ext cx="1089900" cy="1221300"/>
          </a:xfrm>
          <a:prstGeom prst="rect">
            <a:avLst/>
          </a:prstGeom>
          <a:solidFill>
            <a:srgbClr val="F8F9FA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5">
                <a:latin typeface="DM Sans Thin"/>
                <a:ea typeface="DM Sans Thin"/>
                <a:cs typeface="DM Sans Thin"/>
                <a:sym typeface="DM Sans Thin"/>
              </a:rPr>
              <a:t>(image)</a:t>
            </a:r>
            <a:endParaRPr sz="1185">
              <a:latin typeface="DM Sans Thin"/>
              <a:ea typeface="DM Sans Thin"/>
              <a:cs typeface="DM Sans Thin"/>
              <a:sym typeface="DM Sans Thin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723726" y="2938225"/>
            <a:ext cx="1089900" cy="1221300"/>
          </a:xfrm>
          <a:prstGeom prst="rect">
            <a:avLst/>
          </a:prstGeom>
          <a:solidFill>
            <a:srgbClr val="F8F9FA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5">
                <a:latin typeface="DM Sans Thin"/>
                <a:ea typeface="DM Sans Thin"/>
                <a:cs typeface="DM Sans Thin"/>
                <a:sym typeface="DM Sans Thin"/>
              </a:rPr>
              <a:t>(image)</a:t>
            </a:r>
            <a:endParaRPr sz="1185">
              <a:latin typeface="DM Sans Thin"/>
              <a:ea typeface="DM Sans Thin"/>
              <a:cs typeface="DM Sans Thin"/>
              <a:sym typeface="DM Sans Thin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440101" y="2938237"/>
            <a:ext cx="1089900" cy="1221300"/>
          </a:xfrm>
          <a:prstGeom prst="rect">
            <a:avLst/>
          </a:prstGeom>
          <a:solidFill>
            <a:srgbClr val="F8F9FA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5">
                <a:latin typeface="DM Sans Thin"/>
                <a:ea typeface="DM Sans Thin"/>
                <a:cs typeface="DM Sans Thin"/>
                <a:sym typeface="DM Sans Thin"/>
              </a:rPr>
              <a:t>(image)</a:t>
            </a:r>
            <a:endParaRPr sz="1185">
              <a:latin typeface="DM Sans Thin"/>
              <a:ea typeface="DM Sans Thin"/>
              <a:cs typeface="DM Sans Thin"/>
              <a:sym typeface="DM Sans Thin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027026" y="2938237"/>
            <a:ext cx="1089900" cy="1221300"/>
          </a:xfrm>
          <a:prstGeom prst="rect">
            <a:avLst/>
          </a:prstGeom>
          <a:solidFill>
            <a:srgbClr val="F8F9FA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5">
                <a:latin typeface="DM Sans Thin"/>
                <a:ea typeface="DM Sans Thin"/>
                <a:cs typeface="DM Sans Thin"/>
                <a:sym typeface="DM Sans Thin"/>
              </a:rPr>
              <a:t>(image)</a:t>
            </a:r>
            <a:endParaRPr sz="1185">
              <a:latin typeface="DM Sans Thin"/>
              <a:ea typeface="DM Sans Thin"/>
              <a:cs typeface="DM Sans Thin"/>
              <a:sym typeface="DM Sans Thin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330376" y="2930300"/>
            <a:ext cx="1089900" cy="1221300"/>
          </a:xfrm>
          <a:prstGeom prst="rect">
            <a:avLst/>
          </a:prstGeom>
          <a:solidFill>
            <a:srgbClr val="F8F9FA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5">
                <a:latin typeface="DM Sans Thin"/>
                <a:ea typeface="DM Sans Thin"/>
                <a:cs typeface="DM Sans Thin"/>
                <a:sym typeface="DM Sans Thin"/>
              </a:rPr>
              <a:t>(image)</a:t>
            </a:r>
            <a:endParaRPr sz="1185">
              <a:latin typeface="DM Sans Thin"/>
              <a:ea typeface="DM Sans Thin"/>
              <a:cs typeface="DM Sans Thin"/>
              <a:sym typeface="DM Sans Thin"/>
            </a:endParaRPr>
          </a:p>
        </p:txBody>
      </p:sp>
      <p:pic>
        <p:nvPicPr>
          <p:cNvPr id="82" name="Google Shape;82;p14" title="1761593421872.jpeg"/>
          <p:cNvPicPr preferRelativeResize="0"/>
          <p:nvPr/>
        </p:nvPicPr>
        <p:blipFill rotWithShape="1">
          <a:blip r:embed="rId3">
            <a:alphaModFix/>
          </a:blip>
          <a:srcRect b="0" l="9606" r="9606" t="7561"/>
          <a:stretch/>
        </p:blipFill>
        <p:spPr>
          <a:xfrm>
            <a:off x="2440100" y="2926350"/>
            <a:ext cx="1089900" cy="12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 title="Janice.JPG"/>
          <p:cNvPicPr preferRelativeResize="0"/>
          <p:nvPr/>
        </p:nvPicPr>
        <p:blipFill rotWithShape="1">
          <a:blip r:embed="rId4">
            <a:alphaModFix/>
          </a:blip>
          <a:srcRect b="26419" l="27101" r="15844" t="30970"/>
          <a:stretch/>
        </p:blipFill>
        <p:spPr>
          <a:xfrm>
            <a:off x="3215975" y="1065150"/>
            <a:ext cx="1089901" cy="122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 rotWithShape="1">
          <a:blip r:embed="rId5">
            <a:alphaModFix/>
          </a:blip>
          <a:srcRect b="3269" l="5403" r="10045" t="0"/>
          <a:stretch/>
        </p:blipFill>
        <p:spPr>
          <a:xfrm>
            <a:off x="5678700" y="2931238"/>
            <a:ext cx="1089900" cy="1246925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pic>
      <p:pic>
        <p:nvPicPr>
          <p:cNvPr id="85" name="Google Shape;85;p14" title="IMG_1881.JPG"/>
          <p:cNvPicPr preferRelativeResize="0"/>
          <p:nvPr/>
        </p:nvPicPr>
        <p:blipFill rotWithShape="1">
          <a:blip r:embed="rId6">
            <a:alphaModFix/>
          </a:blip>
          <a:srcRect b="29025" l="28081" r="33699" t="5367"/>
          <a:stretch/>
        </p:blipFill>
        <p:spPr>
          <a:xfrm>
            <a:off x="723675" y="2931250"/>
            <a:ext cx="1089900" cy="124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 title="me.JPG"/>
          <p:cNvPicPr preferRelativeResize="0"/>
          <p:nvPr/>
        </p:nvPicPr>
        <p:blipFill rotWithShape="1">
          <a:blip r:embed="rId7">
            <a:alphaModFix/>
          </a:blip>
          <a:srcRect b="1036" l="5955" r="6861" t="1270"/>
          <a:stretch/>
        </p:blipFill>
        <p:spPr>
          <a:xfrm>
            <a:off x="4866725" y="1049300"/>
            <a:ext cx="1089902" cy="1221301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pic>
      <p:pic>
        <p:nvPicPr>
          <p:cNvPr id="87" name="Google Shape;87;p14" title="DSCF5808.JPG"/>
          <p:cNvPicPr preferRelativeResize="0"/>
          <p:nvPr/>
        </p:nvPicPr>
        <p:blipFill rotWithShape="1">
          <a:blip r:embed="rId8">
            <a:alphaModFix/>
          </a:blip>
          <a:srcRect b="31464" l="18446" r="18446" t="21526"/>
          <a:stretch/>
        </p:blipFill>
        <p:spPr>
          <a:xfrm>
            <a:off x="7330375" y="2938225"/>
            <a:ext cx="1089901" cy="121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title="Chair Headshot.jpeg"/>
          <p:cNvPicPr preferRelativeResize="0"/>
          <p:nvPr/>
        </p:nvPicPr>
        <p:blipFill rotWithShape="1">
          <a:blip r:embed="rId9">
            <a:alphaModFix/>
          </a:blip>
          <a:srcRect b="21435" l="8040" r="8040" t="15109"/>
          <a:stretch/>
        </p:blipFill>
        <p:spPr>
          <a:xfrm>
            <a:off x="4017625" y="2926350"/>
            <a:ext cx="1099300" cy="124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title="Untitled design (1).png"/>
          <p:cNvPicPr preferRelativeResize="0"/>
          <p:nvPr/>
        </p:nvPicPr>
        <p:blipFill rotWithShape="1">
          <a:blip r:embed="rId3">
            <a:alphaModFix/>
          </a:blip>
          <a:srcRect b="0" l="20810" r="46320" t="0"/>
          <a:stretch/>
        </p:blipFill>
        <p:spPr>
          <a:xfrm>
            <a:off x="-93050" y="-76100"/>
            <a:ext cx="3061301" cy="52386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Google Shape;94;p15"/>
          <p:cNvGraphicFramePr/>
          <p:nvPr/>
        </p:nvGraphicFramePr>
        <p:xfrm>
          <a:off x="3068075" y="2751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{FC1B5B49-85FC-4C4C-9A3A-27B9DE4A745F}</a:tableStyleId>
              </a:tblPr>
              <a:tblGrid>
                <a:gridCol w="5504450"/>
              </a:tblGrid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532E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Overview</a:t>
                      </a:r>
                      <a:endParaRPr b="1" sz="2200">
                        <a:solidFill>
                          <a:srgbClr val="532E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 Light"/>
                          <a:ea typeface="DM Sans Light"/>
                          <a:cs typeface="DM Sans Light"/>
                          <a:sym typeface="DM Sans Light"/>
                        </a:rPr>
                        <a:t>Project Research, Work, and Sections</a:t>
                      </a:r>
                      <a:endParaRPr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5"/>
          <p:cNvGraphicFramePr/>
          <p:nvPr/>
        </p:nvGraphicFramePr>
        <p:xfrm>
          <a:off x="3068075" y="121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{FC1B5B49-85FC-4C4C-9A3A-27B9DE4A745F}</a:tableStyleId>
              </a:tblPr>
              <a:tblGrid>
                <a:gridCol w="5504450"/>
              </a:tblGrid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532E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Survey</a:t>
                      </a:r>
                      <a:endParaRPr b="1" sz="2200">
                        <a:solidFill>
                          <a:srgbClr val="532E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 Light"/>
                          <a:ea typeface="DM Sans Light"/>
                          <a:cs typeface="DM Sans Light"/>
                          <a:sym typeface="DM Sans Light"/>
                        </a:rPr>
                        <a:t>Methodology &amp; Analysis</a:t>
                      </a:r>
                      <a:endParaRPr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" name="Google Shape;96;p15"/>
          <p:cNvGraphicFramePr/>
          <p:nvPr/>
        </p:nvGraphicFramePr>
        <p:xfrm>
          <a:off x="3068075" y="213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{FC1B5B49-85FC-4C4C-9A3A-27B9DE4A745F}</a:tableStyleId>
              </a:tblPr>
              <a:tblGrid>
                <a:gridCol w="5504450"/>
              </a:tblGrid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532E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PRD 1</a:t>
                      </a:r>
                      <a:endParaRPr b="1" sz="2200">
                        <a:solidFill>
                          <a:srgbClr val="532E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Split-Screen Comments With Article Quoting</a:t>
                      </a:r>
                      <a:endParaRPr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" name="Google Shape;97;p15"/>
          <p:cNvGraphicFramePr/>
          <p:nvPr/>
        </p:nvGraphicFramePr>
        <p:xfrm>
          <a:off x="3068075" y="3048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{FC1B5B49-85FC-4C4C-9A3A-27B9DE4A745F}</a:tableStyleId>
              </a:tblPr>
              <a:tblGrid>
                <a:gridCol w="5504450"/>
              </a:tblGrid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532E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PRD 2</a:t>
                      </a:r>
                      <a:endParaRPr b="1" sz="2200">
                        <a:solidFill>
                          <a:srgbClr val="532E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Algorithm and Comment Incentive</a:t>
                      </a:r>
                      <a:endParaRPr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" name="Google Shape;98;p15"/>
          <p:cNvGraphicFramePr/>
          <p:nvPr/>
        </p:nvGraphicFramePr>
        <p:xfrm>
          <a:off x="3068075" y="40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{FC1B5B49-85FC-4C4C-9A3A-27B9DE4A745F}</a:tableStyleId>
              </a:tblPr>
              <a:tblGrid>
                <a:gridCol w="5504450"/>
              </a:tblGrid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532E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Overview</a:t>
                      </a:r>
                      <a:endParaRPr b="1" sz="2200">
                        <a:solidFill>
                          <a:srgbClr val="532E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 Light"/>
                          <a:ea typeface="DM Sans Light"/>
                          <a:cs typeface="DM Sans Light"/>
                          <a:sym typeface="DM Sans Light"/>
                        </a:rPr>
                        <a:t>Final Recommendations</a:t>
                      </a:r>
                      <a:endParaRPr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9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5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3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5"/>
          <p:cNvSpPr txBox="1"/>
          <p:nvPr>
            <p:ph type="ctrTitle"/>
          </p:nvPr>
        </p:nvSpPr>
        <p:spPr>
          <a:xfrm>
            <a:off x="34963" y="427650"/>
            <a:ext cx="2837700" cy="4288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FBF8FF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01</a:t>
            </a:r>
            <a:endParaRPr sz="378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FBF8FF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02</a:t>
            </a:r>
            <a:endParaRPr sz="378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0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FBF8FF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03</a:t>
            </a:r>
            <a:endParaRPr sz="378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FBF8FF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04</a:t>
            </a:r>
            <a:endParaRPr sz="378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FBF8FF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05</a:t>
            </a:r>
            <a:endParaRPr sz="3780">
              <a:solidFill>
                <a:srgbClr val="FBF8FF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Untitled design (1).png"/>
          <p:cNvPicPr preferRelativeResize="0"/>
          <p:nvPr/>
        </p:nvPicPr>
        <p:blipFill rotWithShape="1">
          <a:blip r:embed="rId3">
            <a:alphaModFix/>
          </a:blip>
          <a:srcRect b="3409" l="4572" r="67118" t="5682"/>
          <a:stretch/>
        </p:blipFill>
        <p:spPr>
          <a:xfrm>
            <a:off x="332275" y="221500"/>
            <a:ext cx="26367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4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6"/>
          <p:cNvSpPr txBox="1"/>
          <p:nvPr>
            <p:ph type="ctrTitle"/>
          </p:nvPr>
        </p:nvSpPr>
        <p:spPr>
          <a:xfrm>
            <a:off x="3211823" y="887402"/>
            <a:ext cx="5405100" cy="21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00">
                <a:solidFill>
                  <a:srgbClr val="4C0E60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Overview</a:t>
            </a:r>
            <a:endParaRPr sz="2500">
              <a:solidFill>
                <a:srgbClr val="4C0E6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196150" y="2080050"/>
            <a:ext cx="12183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01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334850" y="1355439"/>
            <a:ext cx="1543200" cy="2938200"/>
          </a:xfrm>
          <a:prstGeom prst="rect">
            <a:avLst/>
          </a:prstGeom>
          <a:noFill/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Competitor Audits</a:t>
            </a:r>
            <a:endParaRPr b="1" sz="13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21 platforms audited along 8 categories</a:t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89700" y="1572237"/>
            <a:ext cx="833400" cy="840300"/>
          </a:xfrm>
          <a:prstGeom prst="ellipse">
            <a:avLst/>
          </a:prstGeom>
          <a:solidFill>
            <a:srgbClr val="FBF8FF"/>
          </a:solidFill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15" name="Google Shape;115;p17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5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7" name="Google Shape;117;p17"/>
          <p:cNvSpPr txBox="1"/>
          <p:nvPr>
            <p:ph type="ctrTitle"/>
          </p:nvPr>
        </p:nvSpPr>
        <p:spPr>
          <a:xfrm>
            <a:off x="457800" y="0"/>
            <a:ext cx="8228400" cy="9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Project Outline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18" name="Google Shape;118;p17"/>
          <p:cNvSpPr txBox="1"/>
          <p:nvPr>
            <p:ph type="ctrTitle"/>
          </p:nvPr>
        </p:nvSpPr>
        <p:spPr>
          <a:xfrm>
            <a:off x="694697" y="1572214"/>
            <a:ext cx="768900" cy="759000"/>
          </a:xfrm>
          <a:prstGeom prst="rect">
            <a:avLst/>
          </a:prstGeom>
        </p:spPr>
        <p:txBody>
          <a:bodyPr anchorCtr="0" anchor="b" bIns="88850" lIns="88850" spcFirstLastPara="1" rIns="88850" wrap="square" tIns="888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62"/>
              <a:buNone/>
            </a:pPr>
            <a:r>
              <a:rPr lang="en" sz="3268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01</a:t>
            </a:r>
            <a:endParaRPr sz="3462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068960" y="1355439"/>
            <a:ext cx="1543200" cy="2938200"/>
          </a:xfrm>
          <a:prstGeom prst="rect">
            <a:avLst/>
          </a:prstGeom>
          <a:noFill/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Feature Identification</a:t>
            </a:r>
            <a:endParaRPr b="1" sz="13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 7 features identified, 4 selected</a:t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803071" y="1355439"/>
            <a:ext cx="1543200" cy="2938200"/>
          </a:xfrm>
          <a:prstGeom prst="rect">
            <a:avLst/>
          </a:prstGeom>
          <a:noFill/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18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Data Collection &amp; Analysis</a:t>
            </a:r>
            <a:endParaRPr b="1" sz="13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443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86 survey responses collected</a:t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537181" y="1355439"/>
            <a:ext cx="1543200" cy="2938200"/>
          </a:xfrm>
          <a:prstGeom prst="rect">
            <a:avLst/>
          </a:prstGeom>
          <a:noFill/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Product Requirement Docs</a:t>
            </a:r>
            <a:endParaRPr b="1" sz="13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21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Two PRDs written for 4 features</a:t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7271299" y="1355439"/>
            <a:ext cx="1543200" cy="2938200"/>
          </a:xfrm>
          <a:prstGeom prst="rect">
            <a:avLst/>
          </a:prstGeom>
          <a:noFill/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Figma </a:t>
            </a:r>
            <a:endParaRPr b="1" sz="13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Mock Ups </a:t>
            </a:r>
            <a:endParaRPr b="1" sz="1318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443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rgbClr val="4C0E60"/>
                </a:solidFill>
                <a:latin typeface="DM Sans"/>
                <a:ea typeface="DM Sans"/>
                <a:cs typeface="DM Sans"/>
                <a:sym typeface="DM Sans"/>
              </a:rPr>
              <a:t>Three Figma mockups created for 5 features</a:t>
            </a:r>
            <a:endParaRPr sz="1221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2423863" y="1572250"/>
            <a:ext cx="833400" cy="840300"/>
          </a:xfrm>
          <a:prstGeom prst="ellipse">
            <a:avLst/>
          </a:prstGeom>
          <a:solidFill>
            <a:srgbClr val="FBF8FF"/>
          </a:solidFill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24" name="Google Shape;124;p17"/>
          <p:cNvSpPr txBox="1"/>
          <p:nvPr>
            <p:ph type="ctrTitle"/>
          </p:nvPr>
        </p:nvSpPr>
        <p:spPr>
          <a:xfrm>
            <a:off x="2428859" y="1572226"/>
            <a:ext cx="768900" cy="759000"/>
          </a:xfrm>
          <a:prstGeom prst="rect">
            <a:avLst/>
          </a:prstGeom>
        </p:spPr>
        <p:txBody>
          <a:bodyPr anchorCtr="0" anchor="b" bIns="88850" lIns="88850" spcFirstLastPara="1" rIns="88850" wrap="square" tIns="888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62"/>
              <a:buNone/>
            </a:pPr>
            <a:r>
              <a:rPr lang="en" sz="3268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02</a:t>
            </a:r>
            <a:endParaRPr sz="3462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157950" y="1572262"/>
            <a:ext cx="833400" cy="840300"/>
          </a:xfrm>
          <a:prstGeom prst="ellipse">
            <a:avLst/>
          </a:prstGeom>
          <a:solidFill>
            <a:srgbClr val="FBF8FF"/>
          </a:solidFill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26" name="Google Shape;126;p17"/>
          <p:cNvSpPr txBox="1"/>
          <p:nvPr>
            <p:ph type="ctrTitle"/>
          </p:nvPr>
        </p:nvSpPr>
        <p:spPr>
          <a:xfrm>
            <a:off x="4162947" y="1572239"/>
            <a:ext cx="768900" cy="759000"/>
          </a:xfrm>
          <a:prstGeom prst="rect">
            <a:avLst/>
          </a:prstGeom>
        </p:spPr>
        <p:txBody>
          <a:bodyPr anchorCtr="0" anchor="b" bIns="88850" lIns="88850" spcFirstLastPara="1" rIns="88850" wrap="square" tIns="888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62"/>
              <a:buNone/>
            </a:pPr>
            <a:r>
              <a:rPr lang="en" sz="3268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03</a:t>
            </a:r>
            <a:endParaRPr sz="3462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892088" y="1572275"/>
            <a:ext cx="833400" cy="840300"/>
          </a:xfrm>
          <a:prstGeom prst="ellipse">
            <a:avLst/>
          </a:prstGeom>
          <a:solidFill>
            <a:srgbClr val="FBF8FF"/>
          </a:solidFill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28" name="Google Shape;128;p17"/>
          <p:cNvSpPr txBox="1"/>
          <p:nvPr>
            <p:ph type="ctrTitle"/>
          </p:nvPr>
        </p:nvSpPr>
        <p:spPr>
          <a:xfrm>
            <a:off x="5897084" y="1572251"/>
            <a:ext cx="768900" cy="759000"/>
          </a:xfrm>
          <a:prstGeom prst="rect">
            <a:avLst/>
          </a:prstGeom>
        </p:spPr>
        <p:txBody>
          <a:bodyPr anchorCtr="0" anchor="b" bIns="88850" lIns="88850" spcFirstLastPara="1" rIns="88850" wrap="square" tIns="888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62"/>
              <a:buNone/>
            </a:pPr>
            <a:r>
              <a:rPr lang="en" sz="3268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04</a:t>
            </a:r>
            <a:endParaRPr sz="3462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685688" y="1572287"/>
            <a:ext cx="833400" cy="840300"/>
          </a:xfrm>
          <a:prstGeom prst="ellipse">
            <a:avLst/>
          </a:prstGeom>
          <a:solidFill>
            <a:srgbClr val="FBF8FF"/>
          </a:solidFill>
          <a:ln cap="flat" cmpd="sng" w="28575">
            <a:solidFill>
              <a:srgbClr val="4C0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130" name="Google Shape;130;p17"/>
          <p:cNvSpPr txBox="1"/>
          <p:nvPr>
            <p:ph type="ctrTitle"/>
          </p:nvPr>
        </p:nvSpPr>
        <p:spPr>
          <a:xfrm>
            <a:off x="7690684" y="1572264"/>
            <a:ext cx="768900" cy="759000"/>
          </a:xfrm>
          <a:prstGeom prst="rect">
            <a:avLst/>
          </a:prstGeom>
        </p:spPr>
        <p:txBody>
          <a:bodyPr anchorCtr="0" anchor="b" bIns="88850" lIns="88850" spcFirstLastPara="1" rIns="88850" wrap="square" tIns="888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62"/>
              <a:buNone/>
            </a:pPr>
            <a:r>
              <a:rPr lang="en" sz="3268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05</a:t>
            </a:r>
            <a:endParaRPr sz="3462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 title="Untitled design (1).png"/>
          <p:cNvPicPr preferRelativeResize="0"/>
          <p:nvPr/>
        </p:nvPicPr>
        <p:blipFill rotWithShape="1">
          <a:blip r:embed="rId3">
            <a:alphaModFix/>
          </a:blip>
          <a:srcRect b="3409" l="4572" r="67118" t="5682"/>
          <a:stretch/>
        </p:blipFill>
        <p:spPr>
          <a:xfrm>
            <a:off x="332275" y="221500"/>
            <a:ext cx="26367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6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8"/>
          <p:cNvSpPr txBox="1"/>
          <p:nvPr>
            <p:ph type="ctrTitle"/>
          </p:nvPr>
        </p:nvSpPr>
        <p:spPr>
          <a:xfrm>
            <a:off x="3211823" y="1125527"/>
            <a:ext cx="5405100" cy="21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00">
                <a:solidFill>
                  <a:srgbClr val="4C0E60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Primary Research</a:t>
            </a:r>
            <a:endParaRPr sz="43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rgbClr val="4C0E6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Initial Results &amp; Analysis</a:t>
            </a:r>
            <a:endParaRPr sz="2500">
              <a:solidFill>
                <a:srgbClr val="4C0E6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1196150" y="2080050"/>
            <a:ext cx="12183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02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7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9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Midterm Findings Recap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57800" y="895856"/>
            <a:ext cx="4347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The more </a:t>
            </a:r>
            <a:r>
              <a:rPr b="1" lang="en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active </a:t>
            </a:r>
            <a:r>
              <a:rPr lang="en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the discussion and the more </a:t>
            </a:r>
            <a:r>
              <a:rPr b="1" lang="en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diverse </a:t>
            </a:r>
            <a:r>
              <a:rPr lang="en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the perspectives, the better</a:t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318300" y="4362025"/>
            <a:ext cx="38709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Q: What do you get from comments that you do not get from the work itself?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816775" y="4362025"/>
            <a:ext cx="3870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Q: What type of content most often leads you to the comments?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9" name="Google Shape;149;p19" title="Gráfico"/>
          <p:cNvPicPr preferRelativeResize="0"/>
          <p:nvPr/>
        </p:nvPicPr>
        <p:blipFill rotWithShape="1">
          <a:blip r:embed="rId3">
            <a:alphaModFix/>
          </a:blip>
          <a:srcRect b="3521" l="0" r="7003" t="0"/>
          <a:stretch/>
        </p:blipFill>
        <p:spPr>
          <a:xfrm>
            <a:off x="354525" y="1747025"/>
            <a:ext cx="4008525" cy="2583000"/>
          </a:xfrm>
          <a:prstGeom prst="rect">
            <a:avLst/>
          </a:prstGeom>
          <a:noFill/>
          <a:ln cap="flat" cmpd="sng" w="189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19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5250" y="1747025"/>
            <a:ext cx="4194249" cy="2583000"/>
          </a:xfrm>
          <a:prstGeom prst="rect">
            <a:avLst/>
          </a:prstGeom>
          <a:noFill/>
          <a:ln cap="flat" cmpd="sng" w="189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19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8566" y="803353"/>
            <a:ext cx="3591900" cy="67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4685466" y="1398590"/>
            <a:ext cx="409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Q: How do disagreements in comment sections make you feel?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0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50" y="1747025"/>
            <a:ext cx="4008525" cy="2585301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20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8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20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Results by Segmentation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57800" y="895856"/>
            <a:ext cx="4347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Greater attention paid to </a:t>
            </a: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hearing perspectives</a:t>
            </a: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accountability</a:t>
            </a: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, importance of </a:t>
            </a: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personal elements</a:t>
            </a:r>
            <a:r>
              <a:rPr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, danger of </a:t>
            </a: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anxiety</a:t>
            </a:r>
            <a:endParaRPr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2" name="Google Shape;162;p20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5250" y="1747025"/>
            <a:ext cx="4194249" cy="2580700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p20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8303" y="764801"/>
            <a:ext cx="3552436" cy="74009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685466" y="1398590"/>
            <a:ext cx="409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Q: How do disagreements in comment sections make you feel?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18300" y="4362025"/>
            <a:ext cx="38709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Q: What do you get from comments that you do not get from the work itself?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816775" y="4362025"/>
            <a:ext cx="3870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Q: What type of content most often leads you to the comments?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 title="Untitled design (1).png"/>
          <p:cNvPicPr preferRelativeResize="0"/>
          <p:nvPr/>
        </p:nvPicPr>
        <p:blipFill rotWithShape="1">
          <a:blip r:embed="rId4">
            <a:alphaModFix/>
          </a:blip>
          <a:srcRect b="3409" l="4572" r="67118" t="5682"/>
          <a:stretch/>
        </p:blipFill>
        <p:spPr>
          <a:xfrm>
            <a:off x="332275" y="221500"/>
            <a:ext cx="26367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</a:t>
            </a: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9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21"/>
          <p:cNvSpPr txBox="1"/>
          <p:nvPr>
            <p:ph type="ctrTitle"/>
          </p:nvPr>
        </p:nvSpPr>
        <p:spPr>
          <a:xfrm>
            <a:off x="3211825" y="1125525"/>
            <a:ext cx="5867100" cy="21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00">
                <a:solidFill>
                  <a:srgbClr val="4C0E60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PRD 1</a:t>
            </a:r>
            <a:endParaRPr sz="43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ts val="1100"/>
              <a:buNone/>
            </a:pPr>
            <a:r>
              <a:rPr b="1" lang="en" sz="2500">
                <a:solidFill>
                  <a:srgbClr val="532E61"/>
                </a:solidFill>
                <a:latin typeface="DM Sans"/>
                <a:ea typeface="DM Sans"/>
                <a:cs typeface="DM Sans"/>
                <a:sym typeface="DM Sans"/>
              </a:rPr>
              <a:t>UI/UX Barriers to Commentary</a:t>
            </a:r>
            <a:endParaRPr b="1" sz="2500">
              <a:solidFill>
                <a:srgbClr val="532E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1196150" y="2080050"/>
            <a:ext cx="12183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03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Product Space @ Georgetown | </a:t>
            </a: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22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PRD 1: Split Screen &amp; Article Quoting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Improving Comment Engagement Through Contextual Reading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51622" y="1377335"/>
            <a:ext cx="3957600" cy="9327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ctr" bIns="119250" lIns="119250" spcFirstLastPara="1" rIns="119250" wrap="square" tIns="119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Readers </a:t>
            </a:r>
            <a:r>
              <a:rPr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struggle to have meaningful article discussion in comments; referencing the article creates friction.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4509258" y="4094292"/>
            <a:ext cx="46776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Current comments view: </a:t>
            </a: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1" lang="en" sz="10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rticle is blurred and partially covered</a:t>
            </a:r>
            <a:endParaRPr b="0" i="1" sz="1000" u="none" cap="none" strike="noStrike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500075" y="2369650"/>
            <a:ext cx="40599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532E61"/>
                </a:solidFill>
                <a:latin typeface="DM Sans"/>
                <a:ea typeface="DM Sans"/>
                <a:cs typeface="DM Sans"/>
                <a:sym typeface="DM Sans"/>
              </a:rPr>
              <a:t>Obstacle</a:t>
            </a:r>
            <a:r>
              <a:rPr b="0" i="0" lang="en" sz="1300" u="none" cap="none" strike="noStrike">
                <a:solidFill>
                  <a:srgbClr val="40474B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b="0" i="0" lang="en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article text is blurred and covered by the comments pane, forcing context-switching and taxing working memory.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532E61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r>
              <a:rPr b="0" i="0" lang="en" sz="1300" u="none" cap="none" strike="noStrike">
                <a:solidFill>
                  <a:srgbClr val="40474B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b="0" i="0" lang="en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split-screen view with a highlight-to-quote feature that keeps the article visible alongside comments.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2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Survey insight: Readers come to comments to hear </a:t>
            </a:r>
            <a:r>
              <a:rPr b="1" i="1" lang="en" sz="12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new perspectives</a:t>
            </a:r>
            <a:r>
              <a:rPr b="0" i="1" lang="en" sz="12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1" lang="en" sz="12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engage with others</a:t>
            </a:r>
            <a:r>
              <a:rPr b="0" i="1" lang="en" sz="12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 — split-screen removes the barrier to doing both at once.</a:t>
            </a:r>
            <a:endParaRPr sz="1600"/>
          </a:p>
        </p:txBody>
      </p:sp>
      <p:pic>
        <p:nvPicPr>
          <p:cNvPr id="186" name="Google Shape;186;p22" title="Screenshot 2026-04-29 at 12.15.28 AM.png"/>
          <p:cNvPicPr preferRelativeResize="0"/>
          <p:nvPr/>
        </p:nvPicPr>
        <p:blipFill rotWithShape="1">
          <a:blip r:embed="rId3">
            <a:alphaModFix/>
          </a:blip>
          <a:srcRect b="0" l="0" r="0" t="853"/>
          <a:stretch/>
        </p:blipFill>
        <p:spPr>
          <a:xfrm>
            <a:off x="4789147" y="1559455"/>
            <a:ext cx="4117801" cy="2490056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Product Space @ Georgetown | 11</a:t>
            </a:r>
            <a:endParaRPr b="0" i="0" sz="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5080000" y="444500"/>
            <a:ext cx="3683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571500" y="2418147"/>
            <a:ext cx="2464200" cy="2201100"/>
          </a:xfrm>
          <a:prstGeom prst="rect">
            <a:avLst/>
          </a:prstGeom>
          <a:solidFill>
            <a:srgbClr val="E4DFED">
              <a:alpha val="70200"/>
            </a:srgbClr>
          </a:solidFill>
          <a:ln>
            <a:noFill/>
          </a:ln>
        </p:spPr>
        <p:txBody>
          <a:bodyPr anchorCtr="0" anchor="t" bIns="91425" lIns="171450" spcFirstLastPara="1" rIns="91425" wrap="square" tIns="91425">
            <a:noAutofit/>
          </a:bodyPr>
          <a:lstStyle/>
          <a:p>
            <a:pPr indent="-184150" lvl="0" marL="114300" marR="2637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</a:t>
            </a:r>
            <a:r>
              <a:rPr b="1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reader</a:t>
            </a: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 want to see the full article while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reading comments </a:t>
            </a: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 I can reference specific passages</a:t>
            </a:r>
            <a:endParaRPr sz="1100"/>
          </a:p>
          <a:p>
            <a:pPr indent="-184150" lvl="0" marL="114300" marR="2637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</a:t>
            </a: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potential commenter</a:t>
            </a: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 want to highlight and quote article text directly into my comment</a:t>
            </a:r>
            <a:endParaRPr sz="1100"/>
          </a:p>
          <a:p>
            <a:pPr indent="-184150" lvl="0" marL="114300" marR="2637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</a:t>
            </a:r>
            <a:r>
              <a:rPr b="1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commenter</a:t>
            </a: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 want others to see which passage I’m responding to</a:t>
            </a:r>
            <a:endParaRPr sz="1100"/>
          </a:p>
        </p:txBody>
      </p:sp>
      <p:sp>
        <p:nvSpPr>
          <p:cNvPr id="195" name="Google Shape;195;p23"/>
          <p:cNvSpPr txBox="1"/>
          <p:nvPr/>
        </p:nvSpPr>
        <p:spPr>
          <a:xfrm>
            <a:off x="3340625" y="2424889"/>
            <a:ext cx="2464200" cy="2201100"/>
          </a:xfrm>
          <a:prstGeom prst="rect">
            <a:avLst/>
          </a:prstGeom>
          <a:solidFill>
            <a:srgbClr val="E4DFED">
              <a:alpha val="70200"/>
            </a:srgbClr>
          </a:solidFill>
          <a:ln>
            <a:noFill/>
          </a:ln>
        </p:spPr>
        <p:txBody>
          <a:bodyPr anchorCtr="0" anchor="t" bIns="91425" lIns="171450" spcFirstLastPara="1" rIns="91425" wrap="square" tIns="91425">
            <a:noAutofit/>
          </a:bodyPr>
          <a:lstStyle/>
          <a:p>
            <a:pPr indent="-1841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Split-screen view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article on left ⅔ stays fully unblurred and scrollable, with comment pane separately scrollable on right ⅓</a:t>
            </a:r>
            <a:endParaRPr/>
          </a:p>
          <a:p>
            <a:pPr indent="-184150" lvl="0" marL="1714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Highlight-to-quote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select any article passage and insert as a block quote in one click</a:t>
            </a:r>
            <a:endParaRPr/>
          </a:p>
          <a:p>
            <a:pPr indent="-184150" lvl="0" marL="1714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Precedent</a:t>
            </a:r>
            <a:r>
              <a:rPr b="0" i="0" lang="en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Medium highlights, Substack quote restacks, TikTok dual-view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571500" y="1880100"/>
            <a:ext cx="2464200" cy="4377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User </a:t>
            </a:r>
            <a:r>
              <a:rPr b="1" lang="en" sz="15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1" i="0" lang="en" sz="1500" u="none" cap="none" strike="noStrike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tory</a:t>
            </a:r>
            <a:endParaRPr b="1" i="0" sz="1500" u="none" cap="none" strike="noStrike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3341347" y="1880100"/>
            <a:ext cx="2462700" cy="4377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Definition</a:t>
            </a:r>
            <a:endParaRPr b="1" i="0" sz="1500" u="none" cap="none" strike="noStrike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6109644" y="1886342"/>
            <a:ext cx="2462700" cy="4377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KPIs</a:t>
            </a:r>
            <a:endParaRPr b="1" i="0" sz="1500" u="none" cap="none" strike="noStrike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469900" y="1181100"/>
            <a:ext cx="78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Two linked features reducing friction in article-to-comment flow. Article quoting </a:t>
            </a:r>
            <a:r>
              <a:rPr b="1" i="0" lang="en" sz="12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lowers cognitive load</a:t>
            </a:r>
            <a:r>
              <a:rPr b="0" i="0" lang="en" sz="12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and mimics how Gen Z engages with shorter-form content.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6109750" y="2431578"/>
            <a:ext cx="2462700" cy="2201100"/>
          </a:xfrm>
          <a:prstGeom prst="rect">
            <a:avLst/>
          </a:prstGeom>
          <a:solidFill>
            <a:srgbClr val="E4DFED">
              <a:alpha val="70200"/>
            </a:srgbClr>
          </a:solidFill>
          <a:ln>
            <a:noFill/>
          </a:ln>
        </p:spPr>
        <p:txBody>
          <a:bodyPr anchorCtr="0" anchor="t" bIns="91425" lIns="114300" spcFirstLastPara="1" rIns="91425" wrap="square" tIns="91425">
            <a:noAutofit/>
          </a:bodyPr>
          <a:lstStyle/>
          <a:p>
            <a:pPr indent="-184150" lvl="0" marL="1714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Comment submission rate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rate of comments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 split-screen vs. baseline articles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1714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Article quoting adoption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share of comments containing at least one quoted passage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1714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Avg. comment length &amp; return-visit rate</a:t>
            </a: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change in average length of comments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&amp;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the percentage of readers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who open the comments 2+ times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3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Feature Proposal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Split Screen &amp; Article Quoting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12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01895" y="1447802"/>
            <a:ext cx="3507300" cy="2993100"/>
          </a:xfrm>
          <a:prstGeom prst="rect">
            <a:avLst/>
          </a:prstGeom>
          <a:solidFill>
            <a:srgbClr val="EDE9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Highlight article text to quote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Clicking on in-article “quote” option 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brings user straight to comment section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Split screen dual view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View comments simultaneously besides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the article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Condensed &amp; toggleable 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view of quotation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Quotes minimized by default to maximize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screen real estate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24"/>
          <p:cNvSpPr txBox="1"/>
          <p:nvPr>
            <p:ph type="ctrTitle"/>
          </p:nvPr>
        </p:nvSpPr>
        <p:spPr>
          <a:xfrm>
            <a:off x="457800" y="4572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UI/UX Choices &amp; Figma Demonstration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Seamless Reading-to-Commenting User Journey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2" name="Google Shape;212;p24" title="Screen Recording 2026-04-29 at 11.13.11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001" y="1447800"/>
            <a:ext cx="4213834" cy="2993098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7267201" y="4843575"/>
            <a:ext cx="1876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13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25"/>
          <p:cNvSpPr txBox="1"/>
          <p:nvPr>
            <p:ph type="ctrTitle"/>
          </p:nvPr>
        </p:nvSpPr>
        <p:spPr>
          <a:xfrm>
            <a:off x="457800" y="4572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UI/UX Choices </a:t>
            </a: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&amp; Figma Demonstration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Bridge from Article Reading to Quote-Driven Discussion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501895" y="1447802"/>
            <a:ext cx="3507300" cy="2993100"/>
          </a:xfrm>
          <a:prstGeom prst="rect">
            <a:avLst/>
          </a:prstGeom>
          <a:solidFill>
            <a:srgbClr val="EDE9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End article with “</a:t>
            </a:r>
            <a: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ost Quoted”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Readers flow through article linearly into 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an incentive to engage further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Pulls user into </a:t>
            </a: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comment </a:t>
            </a: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section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Encourage substantive engagement 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with article through discussing quotes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Dual-pane viewing &amp; scrolling 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Allows for independent scrolling on each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side of the screen without disrupting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user’s current position 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2" name="Google Shape;222;p25" title="Screen Recording 2026-04-29 at 11.55.50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600" y="1450875"/>
            <a:ext cx="4616647" cy="2993100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6" title="Untitled design (1).png"/>
          <p:cNvPicPr preferRelativeResize="0"/>
          <p:nvPr/>
        </p:nvPicPr>
        <p:blipFill rotWithShape="1">
          <a:blip r:embed="rId3">
            <a:alphaModFix/>
          </a:blip>
          <a:srcRect b="3409" l="4572" r="67118" t="5682"/>
          <a:stretch/>
        </p:blipFill>
        <p:spPr>
          <a:xfrm>
            <a:off x="332275" y="221500"/>
            <a:ext cx="26367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6"/>
          <p:cNvSpPr txBox="1"/>
          <p:nvPr/>
        </p:nvSpPr>
        <p:spPr>
          <a:xfrm>
            <a:off x="7267201" y="4843575"/>
            <a:ext cx="1876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14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26"/>
          <p:cNvSpPr txBox="1"/>
          <p:nvPr>
            <p:ph type="ctrTitle"/>
          </p:nvPr>
        </p:nvSpPr>
        <p:spPr>
          <a:xfrm>
            <a:off x="3211823" y="1125527"/>
            <a:ext cx="5405100" cy="21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4300">
                <a:solidFill>
                  <a:srgbClr val="4C0E60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PRD 2</a:t>
            </a:r>
            <a:endParaRPr sz="43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00">
                <a:solidFill>
                  <a:srgbClr val="532E61"/>
                </a:solidFill>
                <a:latin typeface="DM Sans"/>
                <a:ea typeface="DM Sans"/>
                <a:cs typeface="DM Sans"/>
                <a:sym typeface="DM Sans"/>
              </a:rPr>
              <a:t>Incentives to Comment</a:t>
            </a:r>
            <a:endParaRPr b="1" sz="2500">
              <a:solidFill>
                <a:srgbClr val="4C0E6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1196150" y="2080050"/>
            <a:ext cx="12183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04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7267201" y="4843575"/>
            <a:ext cx="1876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Product Space @ Georgetown | </a:t>
            </a: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15</a:t>
            </a:r>
            <a:endParaRPr b="0" i="0" sz="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7"/>
          <p:cNvSpPr txBox="1"/>
          <p:nvPr>
            <p:ph type="ctrTitle"/>
          </p:nvPr>
        </p:nvSpPr>
        <p:spPr>
          <a:xfrm>
            <a:off x="457800" y="428700"/>
            <a:ext cx="8547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PRD </a:t>
            </a: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2: Algorithm &amp; Author Indicator Feature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Boosting Incentives to Comment via Engaging Perspectives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551622" y="1377335"/>
            <a:ext cx="3957600" cy="9327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ctr" bIns="119250" lIns="119250" spcFirstLastPara="1" rIns="119250" wrap="square" tIns="119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Users must overcome frictions when searching for valuable or provocative insights in comment sections.</a:t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448875" y="2379750"/>
            <a:ext cx="42036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532E61"/>
                </a:solidFill>
                <a:latin typeface="DM Sans"/>
                <a:ea typeface="DM Sans"/>
                <a:cs typeface="DM Sans"/>
                <a:sym typeface="DM Sans"/>
              </a:rPr>
              <a:t>Obstacle</a:t>
            </a:r>
            <a:r>
              <a:rPr b="0" i="0" lang="en" sz="1300" u="none" cap="none" strike="noStrike">
                <a:solidFill>
                  <a:srgbClr val="40474B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user has difficulty finding interesting or highly engaging opinions, reducing urge to read or comment.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532E61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r>
              <a:rPr b="0" i="0" lang="en" sz="1300" u="none" cap="none" strike="noStrike">
                <a:solidFill>
                  <a:srgbClr val="40474B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Distinct authorship indicators; a 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comment sorting algorithm that prioritizes trustworthy, eye-catching contributions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40474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200" u="none" cap="none" strike="noStrike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Survey insight: </a:t>
            </a:r>
            <a:r>
              <a:rPr i="1" lang="en" sz="12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Maximizing </a:t>
            </a:r>
            <a:r>
              <a:rPr b="1" i="1" lang="en" sz="12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direct conversation</a:t>
            </a:r>
            <a:r>
              <a:rPr i="1" lang="en" sz="12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 and engagement + conduit for </a:t>
            </a:r>
            <a:r>
              <a:rPr b="1" i="1" lang="en" sz="12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accountability</a:t>
            </a:r>
            <a:r>
              <a:rPr i="1" lang="en" sz="12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4414444" y="4181640"/>
            <a:ext cx="46776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Current d</a:t>
            </a:r>
            <a:r>
              <a:rPr i="1" lang="en" sz="1000">
                <a:solidFill>
                  <a:srgbClr val="563163"/>
                </a:solidFill>
                <a:latin typeface="DM Sans"/>
                <a:ea typeface="DM Sans"/>
                <a:cs typeface="DM Sans"/>
                <a:sym typeface="DM Sans"/>
              </a:rPr>
              <a:t>efault to “Newest” or most recent sort setting</a:t>
            </a:r>
            <a:endParaRPr i="1" sz="1000">
              <a:solidFill>
                <a:srgbClr val="5631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2" name="Google Shape;242;p27" title="Screenshot 2026-04-25 181529.png"/>
          <p:cNvPicPr preferRelativeResize="0"/>
          <p:nvPr/>
        </p:nvPicPr>
        <p:blipFill rotWithShape="1">
          <a:blip r:embed="rId3">
            <a:alphaModFix/>
          </a:blip>
          <a:srcRect b="49814" l="63481" r="1046" t="0"/>
          <a:stretch/>
        </p:blipFill>
        <p:spPr>
          <a:xfrm>
            <a:off x="5095222" y="1481227"/>
            <a:ext cx="3364274" cy="2679299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7695" y="1264059"/>
            <a:ext cx="1346062" cy="1218875"/>
          </a:xfrm>
          <a:prstGeom prst="rect">
            <a:avLst/>
          </a:prstGeom>
          <a:noFill/>
          <a:ln cap="flat" cmpd="sng" w="9525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7267201" y="4843575"/>
            <a:ext cx="1876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16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571525" y="2370876"/>
            <a:ext cx="2464200" cy="2195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</a:t>
            </a: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reader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 want to verify what others think is worth discussing so I can see the best conversations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</a:t>
            </a: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reader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 want to see how the author responds to readers’ opinions to expand my understanding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</a:t>
            </a: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commenter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 want to be rewarded for an intellectual contribution</a:t>
            </a:r>
            <a:endParaRPr i="1" sz="1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3340650" y="2377773"/>
            <a:ext cx="2464200" cy="2195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Algorithmic Sorting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Three-layer comment ranking system using a Wilson Score with Bayesian smoothing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Author Badges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Atlantic A symbols to mark Atlantic staff contributions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41300" lvl="0" marL="228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Precedent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“From NYT,” Substack, all social media comments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6108225" y="2384616"/>
            <a:ext cx="2464200" cy="2195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571525" y="1820475"/>
            <a:ext cx="24642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User story</a:t>
            </a:r>
            <a:endParaRPr b="1" sz="15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3341372" y="1820475"/>
            <a:ext cx="24627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Definition</a:t>
            </a:r>
            <a:endParaRPr b="1" sz="15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6109669" y="1826860"/>
            <a:ext cx="24627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KPIs</a:t>
            </a:r>
            <a:endParaRPr b="1" sz="15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470650" y="1153400"/>
            <a:ext cx="765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Author indicators give Gen Z the access to creators they expect, and the sorting algorithm pushes forth the most engaging opinions.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6109775" y="2384616"/>
            <a:ext cx="2462700" cy="20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96300" wrap="square" tIns="91425">
            <a:noAutofit/>
          </a:bodyPr>
          <a:lstStyle/>
          <a:p>
            <a:pPr indent="-184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Comment-to-View Ratio: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proportion of Comments/Viewers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Conversation Depth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Average # of Comments in a Thread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Average Recommend Count: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average number of recommends comments receive in an article’s comment section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" name="Google Shape;258;p28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Feature Proposal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Author Badges &amp; Comment Sorting Algorithm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/>
          <p:nvPr/>
        </p:nvSpPr>
        <p:spPr>
          <a:xfrm>
            <a:off x="0" y="4838688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7267204" y="4843441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17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5126875" y="238275"/>
            <a:ext cx="527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571500" y="1811829"/>
            <a:ext cx="24642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Wilson Score + </a:t>
            </a:r>
            <a:endParaRPr b="1" sz="12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Bayesian Smoothing</a:t>
            </a:r>
            <a:endParaRPr b="1" sz="12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3341347" y="1811829"/>
            <a:ext cx="24627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Commenter Trust Score</a:t>
            </a:r>
            <a:endParaRPr b="1" sz="12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6109644" y="1818214"/>
            <a:ext cx="24627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  <a:endParaRPr b="1" sz="12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470650" y="1153400"/>
            <a:ext cx="765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29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3-Layer Algorithm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457800" y="895875"/>
            <a:ext cx="81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Wilson Score, Bayesian Smoothing, Commenter Trust Score, and Implementation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571500" y="2362230"/>
            <a:ext cx="2464200" cy="2195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Prioritization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Ranks comments by upvote confidence, not raw count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Volume-agnostic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Corrects for low vote volumes at The Atlantic's scale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Including all readers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Mild time-decay keeps newer comments competitive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3339850" y="2362230"/>
            <a:ext cx="2464200" cy="2195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Backend only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ever surfaced to users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Rewarding reliability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Modest 20% boost for consistently high-quality contributors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Including new readers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New users remain competitive from their first comment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6108200" y="2362230"/>
            <a:ext cx="2464200" cy="2195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Default setting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Replace chronological default with quality-first ranking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Maintain options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Keep "Latest" as sort feature for users who want it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4150" lvl="0" marL="228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Feasibility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Implementable on existing tech stack (no ML required)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145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470650" y="1153400"/>
            <a:ext cx="765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Maximizing engagement without compromising quality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18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>
            <a:off x="5126875" y="238275"/>
            <a:ext cx="527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492759" y="1660464"/>
            <a:ext cx="2464200" cy="2873700"/>
          </a:xfrm>
          <a:prstGeom prst="rect">
            <a:avLst/>
          </a:prstGeom>
          <a:solidFill>
            <a:srgbClr val="E4DFED">
              <a:alpha val="702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Quality comments in top 5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3.8/5 vs. 1.2/5 chronological baseline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Algorithm surfaces comments ranked as low as #47 chronologically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Atlantic Picks visible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 top results without crowding organic ranking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New users remain competitive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with trust boost capped at 20%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492747" y="1103504"/>
            <a:ext cx="2464200" cy="447900"/>
          </a:xfrm>
          <a:prstGeom prst="rect">
            <a:avLst/>
          </a:prstGeom>
          <a:solidFill>
            <a:srgbClr val="4C0E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8F9FA"/>
                </a:solidFill>
                <a:latin typeface="DM Sans"/>
                <a:ea typeface="DM Sans"/>
                <a:cs typeface="DM Sans"/>
                <a:sym typeface="DM Sans"/>
              </a:rPr>
              <a:t>Key Findings</a:t>
            </a:r>
            <a:endParaRPr b="1" sz="1500">
              <a:solidFill>
                <a:srgbClr val="F8F9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30"/>
          <p:cNvSpPr txBox="1"/>
          <p:nvPr>
            <p:ph type="ctrTitle"/>
          </p:nvPr>
        </p:nvSpPr>
        <p:spPr>
          <a:xfrm>
            <a:off x="457800" y="4287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Algorithm Backtest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pic>
        <p:nvPicPr>
          <p:cNvPr id="287" name="Google Shape;287;p30" title="Screen Recording 2026-04-26 at 8.52.41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6160" y="1103517"/>
            <a:ext cx="5705640" cy="3430648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19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501895" y="1447802"/>
            <a:ext cx="3507300" cy="2993100"/>
          </a:xfrm>
          <a:prstGeom prst="rect">
            <a:avLst/>
          </a:prstGeom>
          <a:solidFill>
            <a:srgbClr val="EDE9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Author vs. Other Journalists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 “A” identifies article author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Black “A” identifies newsroom staff 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Standardized Default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Recommended Comments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Most recommended comments shown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first for all users across the platform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Rounded Algorithm Menu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Softer menu shape and whitespace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 improve readability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31"/>
          <p:cNvSpPr txBox="1"/>
          <p:nvPr>
            <p:ph type="ctrTitle"/>
          </p:nvPr>
        </p:nvSpPr>
        <p:spPr>
          <a:xfrm>
            <a:off x="457800" y="457200"/>
            <a:ext cx="82284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UI/UX Choices &amp; Figma Demonstration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457800" y="895840"/>
            <a:ext cx="5390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Authorship Visibility and Algorithm Menu Clarity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7" name="Google Shape;297;p31" title="Screen Recording 2026-04-29 at 11.11.44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450" y="1447800"/>
            <a:ext cx="4159393" cy="2968950"/>
          </a:xfrm>
          <a:prstGeom prst="rect">
            <a:avLst/>
          </a:prstGeom>
          <a:noFill/>
          <a:ln cap="flat" cmpd="sng" w="19050">
            <a:solidFill>
              <a:srgbClr val="5631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2" title="Untitled design (1).png"/>
          <p:cNvPicPr preferRelativeResize="0"/>
          <p:nvPr/>
        </p:nvPicPr>
        <p:blipFill rotWithShape="1">
          <a:blip r:embed="rId3">
            <a:alphaModFix/>
          </a:blip>
          <a:srcRect b="3409" l="4572" r="67118" t="5682"/>
          <a:stretch/>
        </p:blipFill>
        <p:spPr>
          <a:xfrm>
            <a:off x="332275" y="221500"/>
            <a:ext cx="26367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20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32"/>
          <p:cNvSpPr txBox="1"/>
          <p:nvPr>
            <p:ph type="ctrTitle"/>
          </p:nvPr>
        </p:nvSpPr>
        <p:spPr>
          <a:xfrm>
            <a:off x="3211823" y="1125527"/>
            <a:ext cx="5405100" cy="21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00">
                <a:solidFill>
                  <a:srgbClr val="4C0E60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Project Overview</a:t>
            </a:r>
            <a:endParaRPr sz="4300">
              <a:solidFill>
                <a:srgbClr val="4C0E60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rgbClr val="4C0E6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Summary</a:t>
            </a:r>
            <a:endParaRPr sz="2500">
              <a:solidFill>
                <a:srgbClr val="4C0E6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1196150" y="2080050"/>
            <a:ext cx="12183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05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/>
        </p:nvSpPr>
        <p:spPr>
          <a:xfrm>
            <a:off x="457800" y="1228800"/>
            <a:ext cx="1939800" cy="2938200"/>
          </a:xfrm>
          <a:prstGeom prst="rect">
            <a:avLst/>
          </a:prstGeom>
          <a:noFill/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Allow readers to view comments and article simultaneously</a:t>
            </a:r>
            <a:endParaRPr b="1" sz="131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1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Reducing friction in moving between article content and comments section will remove a barrier to commenting.</a:t>
            </a:r>
            <a:endParaRPr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3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21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33"/>
          <p:cNvSpPr txBox="1"/>
          <p:nvPr>
            <p:ph type="ctrTitle"/>
          </p:nvPr>
        </p:nvSpPr>
        <p:spPr>
          <a:xfrm>
            <a:off x="457800" y="0"/>
            <a:ext cx="8228400" cy="9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Recommendations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2555397" y="1228800"/>
            <a:ext cx="1939800" cy="2938200"/>
          </a:xfrm>
          <a:prstGeom prst="rect">
            <a:avLst/>
          </a:prstGeom>
          <a:noFill/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Create an article quoting feature to tie comments to article content</a:t>
            </a:r>
            <a:endParaRPr b="1" sz="131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Allowing users to directly tie in the article to comments will bring conversations closer to content.</a:t>
            </a:r>
            <a:endParaRPr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4650894" y="1228800"/>
            <a:ext cx="1939800" cy="2938200"/>
          </a:xfrm>
          <a:prstGeom prst="rect">
            <a:avLst/>
          </a:prstGeom>
          <a:noFill/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Distinguish article authors/Atlantic staff in comments section to elevate conversation</a:t>
            </a:r>
            <a:endParaRPr b="1" sz="131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443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Visually indicating author interactions with commentators will incentivize readers to leave higher quality comments.</a:t>
            </a:r>
            <a:endParaRPr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6746404" y="1228800"/>
            <a:ext cx="1939800" cy="2938200"/>
          </a:xfrm>
          <a:prstGeom prst="rect">
            <a:avLst/>
          </a:prstGeom>
          <a:noFill/>
          <a:ln cap="flat" cmpd="sng" w="28575">
            <a:solidFill>
              <a:srgbClr val="672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5900" lIns="115900" spcFirstLastPara="1" rIns="115900" wrap="square" tIns="11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8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Rewrite the comment sorting algorithm to better meet reader needs</a:t>
            </a:r>
            <a:endParaRPr b="1" sz="131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Sorting the comments section by a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three-layer comment ranking algorithm will bring readers to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conversations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they will want to see. </a:t>
            </a:r>
            <a:endParaRPr sz="122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/>
          <p:nvPr/>
        </p:nvSpPr>
        <p:spPr>
          <a:xfrm>
            <a:off x="0" y="4838825"/>
            <a:ext cx="9144000" cy="304800"/>
          </a:xfrm>
          <a:prstGeom prst="rect">
            <a:avLst/>
          </a:prstGeom>
          <a:solidFill>
            <a:srgbClr val="542F62">
              <a:alpha val="31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4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22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34"/>
          <p:cNvSpPr txBox="1"/>
          <p:nvPr>
            <p:ph type="ctrTitle"/>
          </p:nvPr>
        </p:nvSpPr>
        <p:spPr>
          <a:xfrm>
            <a:off x="457800" y="0"/>
            <a:ext cx="8228400" cy="9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Deliverables</a:t>
            </a:r>
            <a:endParaRPr sz="30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24" name="Google Shape;324;p34"/>
          <p:cNvSpPr txBox="1"/>
          <p:nvPr/>
        </p:nvSpPr>
        <p:spPr>
          <a:xfrm>
            <a:off x="571500" y="1017875"/>
            <a:ext cx="80010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3"/>
              </a:rPr>
              <a:t>Competitor Matrix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4"/>
              </a:rPr>
              <a:t>Features Matrix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5"/>
              </a:rPr>
              <a:t>PRD 1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6"/>
              </a:rPr>
              <a:t>PRD 2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7"/>
              </a:rPr>
              <a:t>Figma Mockup 1: Split Screen + Article Quoting</a:t>
            </a:r>
            <a:r>
              <a:rPr lang="en" sz="18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; </a:t>
            </a:r>
            <a:r>
              <a:rPr lang="en" sz="1800" u="sng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Most Quoted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9"/>
              </a:rPr>
              <a:t>Figma Mockup 2: Author Interactions + Algorithm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Char char="●"/>
            </a:pPr>
            <a:r>
              <a:rPr lang="en" sz="18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10"/>
              </a:rPr>
              <a:t>Survey Data</a:t>
            </a:r>
            <a:endParaRPr sz="1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5" title="Untitled desig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125" y="-76200"/>
            <a:ext cx="9313325" cy="5238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5"/>
          <p:cNvSpPr/>
          <p:nvPr/>
        </p:nvSpPr>
        <p:spPr>
          <a:xfrm>
            <a:off x="-93125" y="2286000"/>
            <a:ext cx="5539500" cy="2035800"/>
          </a:xfrm>
          <a:prstGeom prst="rect">
            <a:avLst/>
          </a:prstGeom>
          <a:solidFill>
            <a:srgbClr val="F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5"/>
          <p:cNvSpPr txBox="1"/>
          <p:nvPr>
            <p:ph type="ctrTitle"/>
          </p:nvPr>
        </p:nvSpPr>
        <p:spPr>
          <a:xfrm>
            <a:off x="205425" y="2137349"/>
            <a:ext cx="6343200" cy="1870200"/>
          </a:xfrm>
          <a:prstGeom prst="rect">
            <a:avLst/>
          </a:prstGeom>
          <a:effectLst>
            <a:outerShdw blurRad="57150" rotWithShape="0" algn="bl" dir="5400000" dist="19050">
              <a:srgbClr val="9B83A2">
                <a:alpha val="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80">
                <a:solidFill>
                  <a:srgbClr val="532E6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Thank you!</a:t>
            </a:r>
            <a:endParaRPr sz="368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0">
              <a:solidFill>
                <a:srgbClr val="532E6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00">
                <a:solidFill>
                  <a:srgbClr val="563163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Contact jk2385@georgetown.edu with questions or inquiries</a:t>
            </a:r>
            <a:endParaRPr sz="1100">
              <a:solidFill>
                <a:srgbClr val="563163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32" name="Google Shape;332;p35"/>
          <p:cNvSpPr txBox="1"/>
          <p:nvPr/>
        </p:nvSpPr>
        <p:spPr>
          <a:xfrm>
            <a:off x="7267204" y="4843579"/>
            <a:ext cx="2464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Product Space @ Georgetown | 23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